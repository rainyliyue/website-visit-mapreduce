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104" y="4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说什么：这次演示的是课程设计“统计网站访问量系统”。任务要求是使用 Hadoop MapReduce 对网站访问日志做统计分析，并把结果通过 Web 页面可视化出来。我的实现把任务拆成日志数据、MapReduce 计算、MySQL 存储、Spring Boot 后端和 ECharts 页面展示五个部分，普通用户和管理员都有对应功能。</a:t>
            </a:r>
          </a:p>
          <a:p>
            <a:endParaRPr lang="en-US" dirty="0"/>
          </a:p>
          <a:p>
            <a:r>
              <a:rPr lang="zh-CN" dirty="0"/>
              <a:t>打开/点击什么：先打开 PPT 第 1 页即可，不需要切换系统。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说什么：系统的主流程是从 CSV 访问日志开始。用户在页面提交分析任务后，Spring Boot 创建任务记录并调用分析服务；核心统计由三个 MapReduce 作业完成，结果写入 MySQL；页面再通过接口读取结果，用 ECharts 展示排行、峰值和来源分布。这个结构能说明项目不是单纯画图，而是从日志到计算再到展示的一条完整链路。</a:t>
            </a:r>
          </a:p>
          <a:p>
            <a:endParaRPr lang="en-US" dirty="0"/>
          </a:p>
          <a:p>
            <a:r>
              <a:rPr lang="zh-CN" dirty="0"/>
              <a:t>打开/点击什么：仍然讲 PPT。可以顺着架构箭头从左到右指一下：CSV 日志、Spring Boot、MapReduce、MySQL、ECharts。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说什么：每条日志都有 date、time、site、url、ip、region、status、bytes 八个字段。任务书中特别提到的用户 IP、用户所在地区、访问发生时间、访问目标地址都在一条原始记录里。不同分析方向只是取用不同字段：访问排行看 site 和 url，时段峰值看 site 和 time，来源分布看 site、region 和 ip。</a:t>
            </a:r>
          </a:p>
          <a:p>
            <a:endParaRPr lang="en-US" dirty="0"/>
          </a:p>
          <a:p>
            <a:r>
              <a:rPr lang="zh-CN" dirty="0"/>
              <a:t>打开/点击什么：可以在 IDEA 中打开 `data/sample_access_log_medium.csv` 或 `data/sample_access_log_large.csv`，展示每行数据确实包含这些字段；如果现场时间紧，可以只在 PPT 上讲。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说什么：MapReduce 的核心是把每行日志解析成 AccessLogRecord，然后 Mapper 按不同任务输出不同 key，Reducer 做求和聚合。访问量排行输出“站点加路径”，小时峰值输出“站点加小时”，来源分布同时输出“站点加地区”和“站点加 IP”。三个作业共享解析和 SumReducer，所以代码结构比较清楚，也方便验收时单独运行 Hadoop 命令。</a:t>
            </a:r>
          </a:p>
          <a:p>
            <a:endParaRPr lang="en-US" dirty="0"/>
          </a:p>
          <a:p>
            <a:r>
              <a:rPr lang="zh-CN" dirty="0"/>
              <a:t>打开/点击什么：可在 IDEA 中打开 `src/main/java/com/course/mapreduce/job/WebsiteRankJob.java`、`HourPeakJob.java`、`SourceDistributionJob.java`，分别指出 Mapper 的 key 是怎么设计的。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下面演示普通用户功能。普通用户可以登录系统，选择样例数据和分析类型，提交任务，然后查看任务状态。任务成功后，页面下方会刷新网站访问量热度排行、不同时间段访问峰值、用户所在地区分布和明细数据，这对应任务书里的提交任务、查看状态、查看结果和可视化视图。</a:t>
            </a:r>
          </a:p>
          <a:p>
            <a:endParaRPr lang="en-US" dirty="0"/>
          </a:p>
          <a:p>
            <a:r>
              <a:rPr lang="zh-CN" dirty="0"/>
              <a:t>打开/点击什么：打开浏览器进入 `http://localhost:8080`。如果出现登录页，用 `user / user123` 登录。选择一份样例数据，例如中等样例或大规模样例，点击“提交分析任务”。等待任务列表显示 SUCCESS，然后说明三个图表和结果明细已经从数据库读取并刷新。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管理员侧对应任务书要求的用户管理、任务管理、数据管理和分析缓存数据管理。管理员可以查看用户和任务，可以删除完成或异常任务，也可以删除已经统计完成的数据和缓存。为了让较大样例运行更稳，后端使用异步任务执行，写入数据库时使用批量插入，并且可以按选择的分析类型只执行必要任务。</a:t>
            </a:r>
          </a:p>
          <a:p>
            <a:endParaRPr lang="en-US" dirty="0"/>
          </a:p>
          <a:p>
            <a:r>
              <a:rPr lang="zh-CN" dirty="0"/>
              <a:t>打开/点击什么：在页面退出，使用 `admin / admin123` 登录，或者直接进入管理员入口。展示用户管理、任务管理、数据管理和缓存管理区域。可以选择一条已完成任务点击删除，或说明数据管理中的删除按钮对应不同统计表。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说什么：最后总结一下验收材料。源码工程可以用 IDEA 打开，数据库脚本在 sql 目录，样例数据在 data 目录，Hadoop Docker 脚本可以证明 MapReduce 作业能独立运行，报告和设计说明书在 docs 目录。整体上，项目覆盖了任务书要求的数据字段、三类统计分析、用户功能、管理员功能和 Web 可视化。</a:t>
            </a:r>
          </a:p>
          <a:p>
            <a:endParaRPr lang="en-US" dirty="0"/>
          </a:p>
          <a:p>
            <a:r>
              <a:rPr lang="zh-CN" dirty="0"/>
              <a:t>打开/点击什么：如老师要看 Hadoop，可以打开 PowerShell，展示之前运行脚本后的 `Job ... completed successfully` 输出，或运行 `scripts/run-hadoop-docker.ps1`。如老师要看文档，打开 `docs/课程设计报告.docx`。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00025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33400" y="533400"/>
            <a:ext cx="11125200" cy="502920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533400" y="533400"/>
            <a:ext cx="11125200" cy="1143000"/>
          </a:xfrm>
          <a:prstGeom prst="roundRect">
            <a:avLst>
              <a:gd name="adj" fmla="val 15000"/>
            </a:avLst>
          </a:prstGeom>
          <a:solidFill>
            <a:srgbClr val="0B4F4A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43915" y="820102"/>
            <a:ext cx="311155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课程设计现场演示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390" y="1948815"/>
            <a:ext cx="617066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基于 Hadoop MapReduce 的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34390" y="2501265"/>
            <a:ext cx="550529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网站访问量统计分析系统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74395" y="3184208"/>
            <a:ext cx="590931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4 分钟演示：任务要求、核心算法、Web 功能与验收证据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95350" y="3857625"/>
            <a:ext cx="1619250" cy="457200"/>
          </a:xfrm>
          <a:prstGeom prst="roundRect">
            <a:avLst>
              <a:gd name="adj" fmla="val 25000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01102" y="3999071"/>
            <a:ext cx="73852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Hadoop</a:t>
            </a:r>
          </a:p>
        </p:txBody>
      </p:sp>
      <p:sp>
        <p:nvSpPr>
          <p:cNvPr id="12" name="Rectangle 12"/>
          <p:cNvSpPr/>
          <p:nvPr/>
        </p:nvSpPr>
        <p:spPr>
          <a:xfrm>
            <a:off x="2705100" y="3857625"/>
            <a:ext cx="1809750" cy="457200"/>
          </a:xfrm>
          <a:prstGeom prst="roundRect">
            <a:avLst>
              <a:gd name="adj" fmla="val 25000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010852" y="3999071"/>
            <a:ext cx="113225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55E75"/>
                </a:solidFill>
                <a:latin typeface="Arial"/>
                <a:ea typeface="Arial"/>
                <a:cs typeface="Arial"/>
              </a:rPr>
              <a:t>MapReduce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705350" y="3857625"/>
            <a:ext cx="1714500" cy="457200"/>
          </a:xfrm>
          <a:prstGeom prst="roundRect">
            <a:avLst>
              <a:gd name="adj" fmla="val 25000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982528" y="3999071"/>
            <a:ext cx="121738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10350" y="3857625"/>
            <a:ext cx="1381125" cy="457200"/>
          </a:xfrm>
          <a:prstGeom prst="roundRect">
            <a:avLst>
              <a:gd name="adj" fmla="val 25000"/>
            </a:avLst>
          </a:prstGeom>
          <a:solidFill>
            <a:srgbClr val="FFF1E8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963728" y="3999071"/>
            <a:ext cx="70659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F97316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81975" y="3857625"/>
            <a:ext cx="1428750" cy="457200"/>
          </a:xfrm>
          <a:prstGeom prst="roundRect">
            <a:avLst>
              <a:gd name="adj" fmla="val 25000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544878" y="3999071"/>
            <a:ext cx="8555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55E75"/>
                </a:solidFill>
                <a:latin typeface="Arial"/>
                <a:ea typeface="Arial"/>
                <a:cs typeface="Arial"/>
              </a:rPr>
              <a:t>ECharts</a:t>
            </a:r>
          </a:p>
        </p:txBody>
      </p:sp>
      <p:sp>
        <p:nvSpPr>
          <p:cNvPr id="20" name="Line 20"/>
          <p:cNvSpPr/>
          <p:nvPr/>
        </p:nvSpPr>
        <p:spPr>
          <a:xfrm>
            <a:off x="895350" y="4857750"/>
            <a:ext cx="10401300" cy="9525"/>
          </a:xfrm>
          <a:custGeom>
            <a:avLst/>
            <a:gdLst/>
            <a:ahLst/>
            <a:cxnLst/>
            <a:rect l="l" t="t" r="r" b="b"/>
            <a:pathLst>
              <a:path w="10401300" h="9525">
                <a:moveTo>
                  <a:pt x="0" y="0"/>
                </a:moveTo>
                <a:lnTo>
                  <a:pt x="1040130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76300" y="5076825"/>
            <a:ext cx="75163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演示主线：日志数据 → MapReduce 统计 → 数据库存储 → 页面可视化 → 管理维护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0110" y="585216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01 / 07</a:t>
            </a:r>
          </a:p>
        </p:txBody>
      </p:sp>
      <p:sp>
        <p:nvSpPr>
          <p:cNvPr id="23" name="Rectangle 23"/>
          <p:cNvSpPr/>
          <p:nvPr/>
        </p:nvSpPr>
        <p:spPr>
          <a:xfrm>
            <a:off x="8858250" y="895350"/>
            <a:ext cx="2190750" cy="533400"/>
          </a:xfrm>
          <a:prstGeom prst="roundRect">
            <a:avLst>
              <a:gd name="adj" fmla="val 25000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9124950" y="1066800"/>
            <a:ext cx="16062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网站访问量系统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505778"/>
            <a:ext cx="234985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系统整体架构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255" y="978218"/>
            <a:ext cx="34907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从访问日志到可视化页面的一条完整链路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428750"/>
            <a:ext cx="11125200" cy="438150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Line 6"/>
          <p:cNvSpPr/>
          <p:nvPr/>
        </p:nvSpPr>
        <p:spPr>
          <a:xfrm>
            <a:off x="914400" y="2381250"/>
            <a:ext cx="10363200" cy="9525"/>
          </a:xfrm>
          <a:custGeom>
            <a:avLst/>
            <a:gdLst/>
            <a:ahLst/>
            <a:cxnLst/>
            <a:rect l="l" t="t" r="r" b="b"/>
            <a:pathLst>
              <a:path w="10363200" h="9525">
                <a:moveTo>
                  <a:pt x="0" y="0"/>
                </a:moveTo>
                <a:lnTo>
                  <a:pt x="1036320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914400" y="1790700"/>
            <a:ext cx="1381125" cy="1181100"/>
          </a:xfrm>
          <a:prstGeom prst="roundRect">
            <a:avLst>
              <a:gd name="adj" fmla="val 11290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179195" y="1993582"/>
            <a:ext cx="10153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CSV 日志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0135" y="2423160"/>
            <a:ext cx="12082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date time site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80135" y="2661285"/>
            <a:ext cx="10375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url ip region</a:t>
            </a:r>
          </a:p>
        </p:txBody>
      </p:sp>
      <p:sp>
        <p:nvSpPr>
          <p:cNvPr id="11" name="Polygon 11"/>
          <p:cNvSpPr/>
          <p:nvPr/>
        </p:nvSpPr>
        <p:spPr>
          <a:xfrm>
            <a:off x="2457450" y="2286000"/>
            <a:ext cx="266700" cy="190500"/>
          </a:xfrm>
          <a:custGeom>
            <a:avLst/>
            <a:gdLst/>
            <a:ahLst/>
            <a:cxnLst/>
            <a:rect l="l" t="t" r="r" b="b"/>
            <a:pathLst>
              <a:path w="266700" h="190500">
                <a:moveTo>
                  <a:pt x="0" y="0"/>
                </a:moveTo>
                <a:lnTo>
                  <a:pt x="2667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155E75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2295525" y="2381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38100">
            <a:solidFill>
              <a:srgbClr val="155E75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14650" y="1790700"/>
            <a:ext cx="1476375" cy="1181100"/>
          </a:xfrm>
          <a:prstGeom prst="roundRect">
            <a:avLst>
              <a:gd name="adj" fmla="val 11290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179445" y="1993582"/>
            <a:ext cx="1064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5E75"/>
                </a:solidFill>
                <a:latin typeface="Arial"/>
                <a:ea typeface="Microsoft YaHei"/>
                <a:cs typeface="Arial"/>
              </a:rPr>
              <a:t>Web 页面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89910" y="2423160"/>
            <a:ext cx="9095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登录 / 提交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89910" y="2661285"/>
            <a:ext cx="9095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状态 / 图表</a:t>
            </a:r>
          </a:p>
        </p:txBody>
      </p:sp>
      <p:sp>
        <p:nvSpPr>
          <p:cNvPr id="17" name="Polygon 17"/>
          <p:cNvSpPr/>
          <p:nvPr/>
        </p:nvSpPr>
        <p:spPr>
          <a:xfrm>
            <a:off x="4552950" y="2286000"/>
            <a:ext cx="266700" cy="190500"/>
          </a:xfrm>
          <a:custGeom>
            <a:avLst/>
            <a:gdLst/>
            <a:ahLst/>
            <a:cxnLst/>
            <a:rect l="l" t="t" r="r" b="b"/>
            <a:pathLst>
              <a:path w="266700" h="190500">
                <a:moveTo>
                  <a:pt x="0" y="0"/>
                </a:moveTo>
                <a:lnTo>
                  <a:pt x="2667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155E75"/>
          </a:solidFill>
          <a:ln>
            <a:noFill/>
          </a:ln>
        </p:spPr>
      </p:sp>
      <p:sp>
        <p:nvSpPr>
          <p:cNvPr id="18" name="Line 18"/>
          <p:cNvSpPr/>
          <p:nvPr/>
        </p:nvSpPr>
        <p:spPr>
          <a:xfrm>
            <a:off x="4391025" y="2381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38100">
            <a:solidFill>
              <a:srgbClr val="155E75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5010150" y="1790700"/>
            <a:ext cx="1600200" cy="1181100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9050">
            <a:solidFill>
              <a:srgbClr val="D9E2E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5246370" y="1993582"/>
            <a:ext cx="140960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Spring Boot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23510" y="2423160"/>
            <a:ext cx="6620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任务 API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23510" y="2661285"/>
            <a:ext cx="7132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异步调度</a:t>
            </a:r>
          </a:p>
        </p:txBody>
      </p:sp>
      <p:sp>
        <p:nvSpPr>
          <p:cNvPr id="23" name="Polygon 23"/>
          <p:cNvSpPr/>
          <p:nvPr/>
        </p:nvSpPr>
        <p:spPr>
          <a:xfrm>
            <a:off x="6772275" y="2286000"/>
            <a:ext cx="266700" cy="190500"/>
          </a:xfrm>
          <a:custGeom>
            <a:avLst/>
            <a:gdLst/>
            <a:ahLst/>
            <a:cxnLst/>
            <a:rect l="l" t="t" r="r" b="b"/>
            <a:pathLst>
              <a:path w="266700" h="190500">
                <a:moveTo>
                  <a:pt x="0" y="0"/>
                </a:moveTo>
                <a:lnTo>
                  <a:pt x="2667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155E75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610350" y="2381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38100">
            <a:solidFill>
              <a:srgbClr val="155E75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229475" y="1790700"/>
            <a:ext cx="1600200" cy="1181100"/>
          </a:xfrm>
          <a:prstGeom prst="roundRect">
            <a:avLst>
              <a:gd name="adj" fmla="val 11290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427595" y="1993582"/>
            <a:ext cx="13110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MapReduce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23785" y="2423160"/>
            <a:ext cx="9095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排行 / 峰值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23785" y="2661285"/>
            <a:ext cx="7132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地区 / IP</a:t>
            </a:r>
          </a:p>
        </p:txBody>
      </p:sp>
      <p:sp>
        <p:nvSpPr>
          <p:cNvPr id="29" name="Polygon 29"/>
          <p:cNvSpPr/>
          <p:nvPr/>
        </p:nvSpPr>
        <p:spPr>
          <a:xfrm>
            <a:off x="8991600" y="2286000"/>
            <a:ext cx="266700" cy="190500"/>
          </a:xfrm>
          <a:custGeom>
            <a:avLst/>
            <a:gdLst/>
            <a:ahLst/>
            <a:cxnLst/>
            <a:rect l="l" t="t" r="r" b="b"/>
            <a:pathLst>
              <a:path w="266700" h="190500">
                <a:moveTo>
                  <a:pt x="0" y="0"/>
                </a:moveTo>
                <a:lnTo>
                  <a:pt x="266700" y="95250"/>
                </a:lnTo>
                <a:lnTo>
                  <a:pt x="0" y="190500"/>
                </a:lnTo>
                <a:close/>
              </a:path>
            </a:pathLst>
          </a:custGeom>
          <a:solidFill>
            <a:srgbClr val="155E75"/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8829675" y="2381250"/>
            <a:ext cx="400050" cy="9525"/>
          </a:xfrm>
          <a:custGeom>
            <a:avLst/>
            <a:gdLst/>
            <a:ahLst/>
            <a:cxnLst/>
            <a:rect l="l" t="t" r="r" b="b"/>
            <a:pathLst>
              <a:path w="400050" h="9525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38100">
            <a:solidFill>
              <a:srgbClr val="155E75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9448800" y="1790700"/>
            <a:ext cx="1524000" cy="1181100"/>
          </a:xfrm>
          <a:prstGeom prst="roundRect">
            <a:avLst>
              <a:gd name="adj" fmla="val 11290"/>
            </a:avLst>
          </a:prstGeom>
          <a:solidFill>
            <a:srgbClr val="FFF1E8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837420" y="1993582"/>
            <a:ext cx="8181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97316"/>
                </a:solidFill>
                <a:latin typeface="Arial"/>
                <a:ea typeface="Arial"/>
                <a:cs typeface="Arial"/>
              </a:rPr>
              <a:t>MySQL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681210" y="2423160"/>
            <a:ext cx="54254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任务表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81210" y="2661285"/>
            <a:ext cx="12508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结果表 / 明细表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3619500"/>
            <a:ext cx="30289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D9E2EC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59192" y="3814286"/>
            <a:ext cx="81671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用户侧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63955" y="4235768"/>
            <a:ext cx="2634322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提交任务、查看状态、查看结果、图表展示</a:t>
            </a:r>
          </a:p>
        </p:txBody>
      </p:sp>
      <p:sp>
        <p:nvSpPr>
          <p:cNvPr id="38" name="Rectangle 38"/>
          <p:cNvSpPr/>
          <p:nvPr/>
        </p:nvSpPr>
        <p:spPr>
          <a:xfrm>
            <a:off x="4591050" y="3619500"/>
            <a:ext cx="30289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D9E2EC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4835842" y="3814286"/>
            <a:ext cx="816712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计算侧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840605" y="4235768"/>
            <a:ext cx="2586990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三个 Hadoop MapReduce 作业完成聚合统计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248650" y="3619500"/>
            <a:ext cx="2724150" cy="142875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D9E2EC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8493442" y="3814286"/>
            <a:ext cx="1074344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管理员侧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498205" y="4235768"/>
            <a:ext cx="25306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用户、任务、数据、缓存管理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18160" y="615696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505778"/>
            <a:ext cx="3492398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数据字段与分析维度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255" y="978218"/>
            <a:ext cx="40667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每条日志保留完整字段，不同统计任务按需取用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466850"/>
            <a:ext cx="5048250" cy="44005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96290" y="1691640"/>
            <a:ext cx="16587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访问日志字段</a:t>
            </a:r>
          </a:p>
        </p:txBody>
      </p:sp>
      <p:sp>
        <p:nvSpPr>
          <p:cNvPr id="7" name="Rectangle 7"/>
          <p:cNvSpPr/>
          <p:nvPr/>
        </p:nvSpPr>
        <p:spPr>
          <a:xfrm>
            <a:off x="819150" y="2152650"/>
            <a:ext cx="4476750" cy="4953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92505" y="232124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字段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06980" y="232124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含义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73855" y="2321242"/>
            <a:ext cx="4375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用途</a:t>
            </a:r>
          </a:p>
        </p:txBody>
      </p:sp>
      <p:sp>
        <p:nvSpPr>
          <p:cNvPr id="11" name="Line 11"/>
          <p:cNvSpPr/>
          <p:nvPr/>
        </p:nvSpPr>
        <p:spPr>
          <a:xfrm>
            <a:off x="819150" y="264795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993458" y="2853214"/>
            <a:ext cx="4223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07932" y="2853214"/>
            <a:ext cx="11205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访问发生时间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74808" y="2853214"/>
            <a:ext cx="7578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时段峰值</a:t>
            </a:r>
          </a:p>
        </p:txBody>
      </p:sp>
      <p:sp>
        <p:nvSpPr>
          <p:cNvPr id="15" name="Line 15"/>
          <p:cNvSpPr/>
          <p:nvPr/>
        </p:nvSpPr>
        <p:spPr>
          <a:xfrm>
            <a:off x="819150" y="318135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93458" y="3386614"/>
            <a:ext cx="38602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site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07932" y="3386614"/>
            <a:ext cx="7578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网站域名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74808" y="3386614"/>
            <a:ext cx="7578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全部统计</a:t>
            </a:r>
          </a:p>
        </p:txBody>
      </p:sp>
      <p:sp>
        <p:nvSpPr>
          <p:cNvPr id="19" name="Line 19"/>
          <p:cNvSpPr/>
          <p:nvPr/>
        </p:nvSpPr>
        <p:spPr>
          <a:xfrm>
            <a:off x="819150" y="371475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993458" y="3920014"/>
            <a:ext cx="2862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07932" y="3920014"/>
            <a:ext cx="11205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访问目标地址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74808" y="3920014"/>
            <a:ext cx="7578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热度排行</a:t>
            </a:r>
          </a:p>
        </p:txBody>
      </p:sp>
      <p:sp>
        <p:nvSpPr>
          <p:cNvPr id="23" name="Line 23"/>
          <p:cNvSpPr/>
          <p:nvPr/>
        </p:nvSpPr>
        <p:spPr>
          <a:xfrm>
            <a:off x="819150" y="424815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993458" y="4453414"/>
            <a:ext cx="1865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ip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07932" y="4453414"/>
            <a:ext cx="6036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用户 IP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74808" y="4453414"/>
            <a:ext cx="60365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来源 IP</a:t>
            </a:r>
          </a:p>
        </p:txBody>
      </p:sp>
      <p:sp>
        <p:nvSpPr>
          <p:cNvPr id="27" name="Line 27"/>
          <p:cNvSpPr/>
          <p:nvPr/>
        </p:nvSpPr>
        <p:spPr>
          <a:xfrm>
            <a:off x="819150" y="478155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93458" y="4986814"/>
            <a:ext cx="5855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region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07932" y="4986814"/>
            <a:ext cx="11205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用户所在地区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74808" y="4986814"/>
            <a:ext cx="75780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地区分布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38850" y="1466850"/>
            <a:ext cx="5619750" cy="440055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301740" y="1691640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分析方向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324600" y="2190750"/>
            <a:ext cx="2381250" cy="1352550"/>
          </a:xfrm>
          <a:prstGeom prst="roundRect">
            <a:avLst>
              <a:gd name="adj" fmla="val 9859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571298" y="2401729"/>
            <a:ext cx="168661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访问量热度排行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75108" y="2796064"/>
            <a:ext cx="13562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key = site + url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75108" y="3081814"/>
            <a:ext cx="16283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输出访问次数 Top N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991600" y="2190750"/>
            <a:ext cx="2381250" cy="1352550"/>
          </a:xfrm>
          <a:prstGeom prst="roundRect">
            <a:avLst>
              <a:gd name="adj" fmla="val 9859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238298" y="2401729"/>
            <a:ext cx="168661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55E75"/>
                </a:solidFill>
                <a:latin typeface="Arial"/>
                <a:ea typeface="Microsoft YaHei"/>
                <a:cs typeface="Arial"/>
              </a:rPr>
              <a:t>不同时间段峰值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42108" y="2796064"/>
            <a:ext cx="150136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key = site + hour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42108" y="3081814"/>
            <a:ext cx="14832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输出每小时访问量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324600" y="3857625"/>
            <a:ext cx="2381250" cy="1352550"/>
          </a:xfrm>
          <a:prstGeom prst="roundRect">
            <a:avLst>
              <a:gd name="adj" fmla="val 9859"/>
            </a:avLst>
          </a:prstGeom>
          <a:solidFill>
            <a:srgbClr val="FFF1E8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571298" y="4068604"/>
            <a:ext cx="145138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用户地区分布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575108" y="4462939"/>
            <a:ext cx="165552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key = site + region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575108" y="4748689"/>
            <a:ext cx="14832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输出地区访问来源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991600" y="3857625"/>
            <a:ext cx="2381250" cy="1352550"/>
          </a:xfrm>
          <a:prstGeom prst="roundRect">
            <a:avLst>
              <a:gd name="adj" fmla="val 9859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9238298" y="4068604"/>
            <a:ext cx="1322005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来源 IP 分布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242108" y="4462939"/>
            <a:ext cx="12565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key = site + ip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242108" y="4748689"/>
            <a:ext cx="13834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 IP 访问次数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18160" y="615696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505778"/>
            <a:ext cx="3663780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MapReduce 核心算法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255" y="978218"/>
            <a:ext cx="452765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同一份日志解析，不同统计 key，统一 Reducer 求和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466850"/>
            <a:ext cx="1112520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798195" y="1650682"/>
            <a:ext cx="102763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共享基础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72652" y="1674971"/>
            <a:ext cx="4657573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AccessLogRecord 解析 CSV 行，过滤表头和异常行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72652" y="1979771"/>
            <a:ext cx="539739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SumReducer 对相同 key 的 value=1 做累加，输出统计结果</a:t>
            </a:r>
          </a:p>
        </p:txBody>
      </p:sp>
      <p:sp>
        <p:nvSpPr>
          <p:cNvPr id="9" name="Rectangle 9"/>
          <p:cNvSpPr/>
          <p:nvPr/>
        </p:nvSpPr>
        <p:spPr>
          <a:xfrm>
            <a:off x="533400" y="2705100"/>
            <a:ext cx="3390900" cy="272415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533400" y="2705100"/>
            <a:ext cx="3390900" cy="552450"/>
          </a:xfrm>
          <a:prstGeom prst="roundRect">
            <a:avLst>
              <a:gd name="adj" fmla="val 24138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97242" y="2871311"/>
            <a:ext cx="2014701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0F766E"/>
                </a:solidFill>
                <a:latin typeface="Arial"/>
                <a:ea typeface="Arial"/>
                <a:cs typeface="Arial"/>
              </a:rPr>
              <a:t>WebsiteRankJob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1052" y="3408521"/>
            <a:ext cx="78108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Mapper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2958" y="3739039"/>
            <a:ext cx="123840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读取 site、url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2958" y="4005739"/>
            <a:ext cx="177340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 key = site + url</a:t>
            </a:r>
          </a:p>
        </p:txBody>
      </p:sp>
      <p:sp>
        <p:nvSpPr>
          <p:cNvPr id="15" name="Line 15"/>
          <p:cNvSpPr/>
          <p:nvPr/>
        </p:nvSpPr>
        <p:spPr>
          <a:xfrm>
            <a:off x="819150" y="4362450"/>
            <a:ext cx="2819400" cy="9525"/>
          </a:xfrm>
          <a:custGeom>
            <a:avLst/>
            <a:gdLst/>
            <a:ahLst/>
            <a:cxnLst/>
            <a:rect l="l" t="t" r="r" b="b"/>
            <a:pathLst>
              <a:path w="2819400" h="952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801052" y="4551521"/>
            <a:ext cx="134507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Reducer 输出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2958" y="4891564"/>
            <a:ext cx="16645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网站访问量热度排行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400550" y="2705100"/>
            <a:ext cx="3390900" cy="272415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400550" y="2705100"/>
            <a:ext cx="3390900" cy="552450"/>
          </a:xfrm>
          <a:prstGeom prst="roundRect">
            <a:avLst>
              <a:gd name="adj" fmla="val 24138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664392" y="2871311"/>
            <a:ext cx="1602490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155E75"/>
                </a:solidFill>
                <a:latin typeface="Arial"/>
                <a:ea typeface="Arial"/>
                <a:cs typeface="Arial"/>
              </a:rPr>
              <a:t>HourPeakJob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68202" y="3408521"/>
            <a:ext cx="78108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Mapper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70108" y="3739039"/>
            <a:ext cx="13744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读取 site、time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70108" y="4005739"/>
            <a:ext cx="19184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 key = site + hour</a:t>
            </a:r>
          </a:p>
        </p:txBody>
      </p:sp>
      <p:sp>
        <p:nvSpPr>
          <p:cNvPr id="24" name="Line 24"/>
          <p:cNvSpPr/>
          <p:nvPr/>
        </p:nvSpPr>
        <p:spPr>
          <a:xfrm>
            <a:off x="4686300" y="4362450"/>
            <a:ext cx="2819400" cy="9525"/>
          </a:xfrm>
          <a:custGeom>
            <a:avLst/>
            <a:gdLst/>
            <a:ahLst/>
            <a:cxnLst/>
            <a:rect l="l" t="t" r="r" b="b"/>
            <a:pathLst>
              <a:path w="2819400" h="952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668202" y="4551521"/>
            <a:ext cx="134507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Reducer 输出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70108" y="4891564"/>
            <a:ext cx="184594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各网站每小时访问峰值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267700" y="2705100"/>
            <a:ext cx="3390900" cy="2724150"/>
          </a:xfrm>
          <a:prstGeom prst="roundRect">
            <a:avLst>
              <a:gd name="adj" fmla="val 489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8267700" y="2705100"/>
            <a:ext cx="3390900" cy="552450"/>
          </a:xfrm>
          <a:prstGeom prst="roundRect">
            <a:avLst>
              <a:gd name="adj" fmla="val 24138"/>
            </a:avLst>
          </a:prstGeom>
          <a:solidFill>
            <a:srgbClr val="FFF1E8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531542" y="2871311"/>
            <a:ext cx="2826243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720" b="1" dirty="0">
                <a:solidFill>
                  <a:srgbClr val="F97316"/>
                </a:solidFill>
                <a:latin typeface="Arial"/>
                <a:ea typeface="Arial"/>
                <a:cs typeface="Arial"/>
              </a:rPr>
              <a:t>SourceDistributionJob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35352" y="3408521"/>
            <a:ext cx="78108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42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Mapper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37258" y="3739039"/>
            <a:ext cx="187314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读取 site、region、ip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37258" y="4005739"/>
            <a:ext cx="225399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输出 REGION 与 IP 两类 key</a:t>
            </a:r>
          </a:p>
        </p:txBody>
      </p:sp>
      <p:sp>
        <p:nvSpPr>
          <p:cNvPr id="33" name="Line 33"/>
          <p:cNvSpPr/>
          <p:nvPr/>
        </p:nvSpPr>
        <p:spPr>
          <a:xfrm>
            <a:off x="8553450" y="4362450"/>
            <a:ext cx="2819400" cy="9525"/>
          </a:xfrm>
          <a:custGeom>
            <a:avLst/>
            <a:gdLst/>
            <a:ahLst/>
            <a:cxnLst/>
            <a:rect l="l" t="t" r="r" b="b"/>
            <a:pathLst>
              <a:path w="2819400" h="9525">
                <a:moveTo>
                  <a:pt x="0" y="0"/>
                </a:moveTo>
                <a:lnTo>
                  <a:pt x="281940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535352" y="4551521"/>
            <a:ext cx="1345079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Reducer 输出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37258" y="4891564"/>
            <a:ext cx="192755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地区分布与来源 IP 分布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33400" y="5753100"/>
            <a:ext cx="11125200" cy="438150"/>
          </a:xfrm>
          <a:prstGeom prst="roundRect">
            <a:avLst>
              <a:gd name="adj" fmla="val 21739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02005" y="5893118"/>
            <a:ext cx="16472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现场可展示代码：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364105" y="5893118"/>
            <a:ext cx="546856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src/main/java/com/course/mapreduce/job 下的三个 Job 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18160" y="636651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505778"/>
            <a:ext cx="311155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用户功能演示流程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255" y="978218"/>
            <a:ext cx="50269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普通用户完成任务提交、状态查看、结果查看和可视化视图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466850"/>
            <a:ext cx="11125200" cy="409575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838200" y="1847850"/>
            <a:ext cx="2476500" cy="2952750"/>
          </a:xfrm>
          <a:prstGeom prst="roundRect">
            <a:avLst>
              <a:gd name="adj" fmla="val 5385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101090" y="2072640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现场入口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5852" y="2570321"/>
            <a:ext cx="64427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浏览器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4900" y="2867025"/>
            <a:ext cx="25136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152033"/>
                </a:solidFill>
                <a:latin typeface="Arial"/>
                <a:ea typeface="Arial"/>
                <a:cs typeface="Arial"/>
              </a:rPr>
              <a:t>http://localhost:8080</a:t>
            </a:r>
          </a:p>
        </p:txBody>
      </p:sp>
      <p:sp>
        <p:nvSpPr>
          <p:cNvPr id="10" name="Line 10"/>
          <p:cNvSpPr/>
          <p:nvPr/>
        </p:nvSpPr>
        <p:spPr>
          <a:xfrm>
            <a:off x="1123950" y="33147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105852" y="3560921"/>
            <a:ext cx="125234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普通用户账号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4900" y="3876675"/>
            <a:ext cx="165110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B4F4A"/>
                </a:solidFill>
                <a:latin typeface="Arial"/>
                <a:ea typeface="Arial"/>
                <a:cs typeface="Arial"/>
              </a:rPr>
              <a:t>user / user123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8710" y="4309110"/>
            <a:ext cx="20787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如已登录，可先退出再演示</a:t>
            </a:r>
          </a:p>
        </p:txBody>
      </p:sp>
      <p:sp>
        <p:nvSpPr>
          <p:cNvPr id="14" name="Rectangle 14"/>
          <p:cNvSpPr/>
          <p:nvPr/>
        </p:nvSpPr>
        <p:spPr>
          <a:xfrm>
            <a:off x="3733800" y="1847850"/>
            <a:ext cx="7315200" cy="2952750"/>
          </a:xfrm>
          <a:prstGeom prst="roundRect">
            <a:avLst>
              <a:gd name="adj" fmla="val 4516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3981450" y="2133600"/>
            <a:ext cx="381000" cy="381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97655" y="2254568"/>
            <a:ext cx="145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94848" y="2230279"/>
            <a:ext cx="145138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登录普通用户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56058" y="2262664"/>
            <a:ext cx="293408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进入首页，看到任务提交区和图表区</a:t>
            </a:r>
          </a:p>
        </p:txBody>
      </p:sp>
      <p:sp>
        <p:nvSpPr>
          <p:cNvPr id="19" name="Line 19"/>
          <p:cNvSpPr/>
          <p:nvPr/>
        </p:nvSpPr>
        <p:spPr>
          <a:xfrm>
            <a:off x="4171950" y="25336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8575">
            <a:solidFill>
              <a:srgbClr val="D9E2EC"/>
            </a:solidFill>
          </a:ln>
        </p:spPr>
      </p:sp>
      <p:sp>
        <p:nvSpPr>
          <p:cNvPr id="20" name="Ellipse 20"/>
          <p:cNvSpPr/>
          <p:nvPr/>
        </p:nvSpPr>
        <p:spPr>
          <a:xfrm>
            <a:off x="3981450" y="2819400"/>
            <a:ext cx="381000" cy="381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4097655" y="2940368"/>
            <a:ext cx="145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94848" y="2916079"/>
            <a:ext cx="145138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选择样例数据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56058" y="2948464"/>
            <a:ext cx="283433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基础 / 中等 / 节假日 / 大规模样例</a:t>
            </a:r>
          </a:p>
        </p:txBody>
      </p:sp>
      <p:sp>
        <p:nvSpPr>
          <p:cNvPr id="24" name="Line 24"/>
          <p:cNvSpPr/>
          <p:nvPr/>
        </p:nvSpPr>
        <p:spPr>
          <a:xfrm>
            <a:off x="4171950" y="32194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8575">
            <a:solidFill>
              <a:srgbClr val="D9E2EC"/>
            </a:solidFill>
          </a:ln>
        </p:spPr>
      </p:sp>
      <p:sp>
        <p:nvSpPr>
          <p:cNvPr id="25" name="Ellipse 25"/>
          <p:cNvSpPr/>
          <p:nvPr/>
        </p:nvSpPr>
        <p:spPr>
          <a:xfrm>
            <a:off x="3981450" y="3505200"/>
            <a:ext cx="381000" cy="381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4097655" y="3626168"/>
            <a:ext cx="145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494848" y="3601879"/>
            <a:ext cx="1921840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点击提交分析任务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56058" y="3634264"/>
            <a:ext cx="349628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任务状态从 PENDING / RUNNING 到 SUCCESS</a:t>
            </a:r>
          </a:p>
        </p:txBody>
      </p:sp>
      <p:sp>
        <p:nvSpPr>
          <p:cNvPr id="29" name="Line 29"/>
          <p:cNvSpPr/>
          <p:nvPr/>
        </p:nvSpPr>
        <p:spPr>
          <a:xfrm>
            <a:off x="4171950" y="3905250"/>
            <a:ext cx="9525" cy="266700"/>
          </a:xfrm>
          <a:custGeom>
            <a:avLst/>
            <a:gdLst/>
            <a:ahLst/>
            <a:cxnLst/>
            <a:rect l="l" t="t" r="r" b="b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8575">
            <a:solidFill>
              <a:srgbClr val="D9E2EC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3981450" y="4191000"/>
            <a:ext cx="381000" cy="3810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097655" y="4311968"/>
            <a:ext cx="1451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494848" y="4287679"/>
            <a:ext cx="1686611" cy="3200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8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查看图表和明细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56058" y="4320064"/>
            <a:ext cx="27527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排行、峰值、地区分布、结果表格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38200" y="5067300"/>
            <a:ext cx="10210800" cy="495300"/>
          </a:xfrm>
          <a:prstGeom prst="roundRect">
            <a:avLst>
              <a:gd name="adj" fmla="val 23077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106805" y="5235892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55E75"/>
                </a:solidFill>
                <a:latin typeface="Arial"/>
                <a:ea typeface="Microsoft YaHei"/>
                <a:cs typeface="Arial"/>
              </a:rPr>
              <a:t>讲解重点：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059305" y="5235892"/>
            <a:ext cx="75520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这一步对应用户功能的 4 项要求：提交任务、查看状态、查看处理结果、查看可视化视图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18160" y="615696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505778"/>
            <a:ext cx="387324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管理员功能与性能优化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255" y="978218"/>
            <a:ext cx="44508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管理员验收四项功能，并说明较大样例下的运行优化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466850"/>
            <a:ext cx="5200650" cy="4305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15340" y="1710690"/>
            <a:ext cx="16587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管理员控制台</a:t>
            </a:r>
          </a:p>
        </p:txBody>
      </p:sp>
      <p:sp>
        <p:nvSpPr>
          <p:cNvPr id="7" name="Rectangle 7"/>
          <p:cNvSpPr/>
          <p:nvPr/>
        </p:nvSpPr>
        <p:spPr>
          <a:xfrm>
            <a:off x="838200" y="2209800"/>
            <a:ext cx="2095500" cy="800100"/>
          </a:xfrm>
          <a:prstGeom prst="roundRect">
            <a:avLst>
              <a:gd name="adj" fmla="val 14286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66800" y="2371725"/>
            <a:ext cx="934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用户管理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610" y="2670810"/>
            <a:ext cx="12252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查看账号和角色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19450" y="2209800"/>
            <a:ext cx="2095500" cy="800100"/>
          </a:xfrm>
          <a:prstGeom prst="roundRect">
            <a:avLst>
              <a:gd name="adj" fmla="val 14286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448050" y="2371725"/>
            <a:ext cx="934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E75"/>
                </a:solidFill>
                <a:latin typeface="Arial"/>
                <a:ea typeface="Microsoft YaHei"/>
                <a:cs typeface="Arial"/>
              </a:rPr>
              <a:t>任务管理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51860" y="2670810"/>
            <a:ext cx="15666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删除完成或异常任务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838200" y="3295650"/>
            <a:ext cx="2095500" cy="800100"/>
          </a:xfrm>
          <a:prstGeom prst="roundRect">
            <a:avLst>
              <a:gd name="adj" fmla="val 14286"/>
            </a:avLst>
          </a:prstGeom>
          <a:solidFill>
            <a:srgbClr val="FFF1E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066800" y="3457575"/>
            <a:ext cx="934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数据管理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0610" y="3756660"/>
            <a:ext cx="15666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删除统计结果和明细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219450" y="3295650"/>
            <a:ext cx="2095500" cy="800100"/>
          </a:xfrm>
          <a:prstGeom prst="roundRect">
            <a:avLst>
              <a:gd name="adj" fmla="val 14286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448050" y="3457575"/>
            <a:ext cx="934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缓存管理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451860" y="3756660"/>
            <a:ext cx="15666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清理已完成任务缓存</a:t>
            </a:r>
          </a:p>
        </p:txBody>
      </p:sp>
      <p:sp>
        <p:nvSpPr>
          <p:cNvPr id="19" name="Line 19"/>
          <p:cNvSpPr/>
          <p:nvPr/>
        </p:nvSpPr>
        <p:spPr>
          <a:xfrm>
            <a:off x="838200" y="4457700"/>
            <a:ext cx="4476750" cy="9525"/>
          </a:xfrm>
          <a:custGeom>
            <a:avLst/>
            <a:gdLst/>
            <a:ahLst/>
            <a:cxnLst/>
            <a:rect l="l" t="t" r="r" b="b"/>
            <a:pathLst>
              <a:path w="4476750" h="9525">
                <a:moveTo>
                  <a:pt x="0" y="0"/>
                </a:moveTo>
                <a:lnTo>
                  <a:pt x="4476750" y="0"/>
                </a:lnTo>
              </a:path>
            </a:pathLst>
          </a:custGeom>
          <a:noFill/>
          <a:ln w="19050">
            <a:solidFill>
              <a:srgbClr val="D9E2EC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20102" y="4665821"/>
            <a:ext cx="2914421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管理员账号：admin / admin123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2008" y="5005864"/>
            <a:ext cx="420357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现场操作：退出普通用户，登录 admin，进入控制台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191250" y="1466850"/>
            <a:ext cx="5467350" cy="4305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73190" y="1710690"/>
            <a:ext cx="13898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性能优化点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496050" y="2238375"/>
            <a:ext cx="4629150" cy="704850"/>
          </a:xfrm>
          <a:prstGeom prst="roundRect">
            <a:avLst>
              <a:gd name="adj" fmla="val 16216"/>
            </a:avLst>
          </a:prstGeom>
          <a:solidFill>
            <a:srgbClr val="E8F3F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762750" y="2390775"/>
            <a:ext cx="13822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F766E"/>
                </a:solidFill>
                <a:latin typeface="Arial"/>
                <a:ea typeface="Microsoft YaHei"/>
                <a:cs typeface="Arial"/>
              </a:rPr>
              <a:t>异步执行任务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66560" y="2670810"/>
            <a:ext cx="29321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提交后页面不阻塞，任务列表轮询状态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96050" y="3143250"/>
            <a:ext cx="4629150" cy="704850"/>
          </a:xfrm>
          <a:prstGeom prst="roundRect">
            <a:avLst>
              <a:gd name="adj" fmla="val 16216"/>
            </a:avLst>
          </a:prstGeom>
          <a:solidFill>
            <a:srgbClr val="E8F1F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762750" y="3295650"/>
            <a:ext cx="16062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5E75"/>
                </a:solidFill>
                <a:latin typeface="Arial"/>
                <a:ea typeface="Microsoft YaHei"/>
                <a:cs typeface="Arial"/>
              </a:rPr>
              <a:t>批量写入数据库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766560" y="3575685"/>
            <a:ext cx="36917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统计结果和访问明细按批次落库，减少 SQL 往返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496050" y="4048125"/>
            <a:ext cx="4629150" cy="704850"/>
          </a:xfrm>
          <a:prstGeom prst="roundRect">
            <a:avLst>
              <a:gd name="adj" fmla="val 16216"/>
            </a:avLst>
          </a:prstGeom>
          <a:solidFill>
            <a:srgbClr val="FFF1E8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62750" y="4200525"/>
            <a:ext cx="160629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97316"/>
                </a:solidFill>
                <a:latin typeface="Arial"/>
                <a:ea typeface="Microsoft YaHei"/>
                <a:cs typeface="Arial"/>
              </a:rPr>
              <a:t>按分析类型执行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66560" y="4480560"/>
            <a:ext cx="3444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只运行当前需要的统计方向，降低大样例耗时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496050" y="4953000"/>
            <a:ext cx="4629150" cy="476250"/>
          </a:xfrm>
          <a:prstGeom prst="roundRect">
            <a:avLst>
              <a:gd name="adj" fmla="val 24000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65608" y="5120164"/>
            <a:ext cx="441213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适合演示：中等样例更稳，大规模样例用于说明容量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18160" y="615696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01015" y="505778"/>
            <a:ext cx="273070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验收要点与总结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255" y="978218"/>
            <a:ext cx="25306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现场可展示的材料和运行证据</a:t>
            </a:r>
          </a:p>
        </p:txBody>
      </p:sp>
      <p:sp>
        <p:nvSpPr>
          <p:cNvPr id="5" name="Rectangle 5"/>
          <p:cNvSpPr/>
          <p:nvPr/>
        </p:nvSpPr>
        <p:spPr>
          <a:xfrm>
            <a:off x="533400" y="1466850"/>
            <a:ext cx="6877050" cy="4305300"/>
          </a:xfrm>
          <a:prstGeom prst="roundRect">
            <a:avLst>
              <a:gd name="adj" fmla="val 3097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15340" y="1710690"/>
            <a:ext cx="11210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验收清单</a:t>
            </a:r>
          </a:p>
        </p:txBody>
      </p:sp>
      <p:sp>
        <p:nvSpPr>
          <p:cNvPr id="7" name="Ellipse 7"/>
          <p:cNvSpPr/>
          <p:nvPr/>
        </p:nvSpPr>
        <p:spPr>
          <a:xfrm>
            <a:off x="876300" y="2266950"/>
            <a:ext cx="228600" cy="2286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7735" y="2318385"/>
            <a:ext cx="129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7300" y="2286000"/>
            <a:ext cx="934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源码工程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35605" y="2302192"/>
            <a:ext cx="37499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IDEA 打开，Maven 编译，Spring Boot 启动</a:t>
            </a:r>
          </a:p>
        </p:txBody>
      </p:sp>
      <p:sp>
        <p:nvSpPr>
          <p:cNvPr id="11" name="Line 11"/>
          <p:cNvSpPr/>
          <p:nvPr/>
        </p:nvSpPr>
        <p:spPr>
          <a:xfrm>
            <a:off x="838200" y="2686050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0" y="0"/>
                </a:moveTo>
                <a:lnTo>
                  <a:pt x="62674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876300" y="2971800"/>
            <a:ext cx="228600" cy="2286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27735" y="3023235"/>
            <a:ext cx="129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7300" y="2990850"/>
            <a:ext cx="12926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Hadoop 作业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935605" y="3007042"/>
            <a:ext cx="39323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三个 MapReduce Job，可用 Docker 脚本运行</a:t>
            </a:r>
          </a:p>
        </p:txBody>
      </p:sp>
      <p:sp>
        <p:nvSpPr>
          <p:cNvPr id="16" name="Line 16"/>
          <p:cNvSpPr/>
          <p:nvPr/>
        </p:nvSpPr>
        <p:spPr>
          <a:xfrm>
            <a:off x="838200" y="3390900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0" y="0"/>
                </a:moveTo>
                <a:lnTo>
                  <a:pt x="62674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876300" y="3676650"/>
            <a:ext cx="228600" cy="2286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27735" y="3728085"/>
            <a:ext cx="129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7300" y="3695700"/>
            <a:ext cx="115824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数据库脚本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935605" y="3711892"/>
            <a:ext cx="40475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sql/init.sql 初始化用户、任务、结果和明细表</a:t>
            </a:r>
          </a:p>
        </p:txBody>
      </p:sp>
      <p:sp>
        <p:nvSpPr>
          <p:cNvPr id="21" name="Line 21"/>
          <p:cNvSpPr/>
          <p:nvPr/>
        </p:nvSpPr>
        <p:spPr>
          <a:xfrm>
            <a:off x="838200" y="4095750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0" y="0"/>
                </a:moveTo>
                <a:lnTo>
                  <a:pt x="62674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22" name="Ellipse 22"/>
          <p:cNvSpPr/>
          <p:nvPr/>
        </p:nvSpPr>
        <p:spPr>
          <a:xfrm>
            <a:off x="876300" y="4381500"/>
            <a:ext cx="228600" cy="2286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27735" y="4432935"/>
            <a:ext cx="129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7300" y="4400550"/>
            <a:ext cx="9678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Web 演示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935605" y="4416742"/>
            <a:ext cx="3106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普通用户与管理员功能均可现场操作</a:t>
            </a:r>
          </a:p>
        </p:txBody>
      </p:sp>
      <p:sp>
        <p:nvSpPr>
          <p:cNvPr id="26" name="Line 26"/>
          <p:cNvSpPr/>
          <p:nvPr/>
        </p:nvSpPr>
        <p:spPr>
          <a:xfrm>
            <a:off x="838200" y="4800600"/>
            <a:ext cx="6267450" cy="9525"/>
          </a:xfrm>
          <a:custGeom>
            <a:avLst/>
            <a:gdLst/>
            <a:ahLst/>
            <a:cxnLst/>
            <a:rect l="l" t="t" r="r" b="b"/>
            <a:pathLst>
              <a:path w="6267450" h="9525">
                <a:moveTo>
                  <a:pt x="0" y="0"/>
                </a:moveTo>
                <a:lnTo>
                  <a:pt x="6267450" y="0"/>
                </a:lnTo>
              </a:path>
            </a:pathLst>
          </a:custGeom>
          <a:noFill/>
          <a:ln w="9525">
            <a:solidFill>
              <a:srgbClr val="D9E2EC"/>
            </a:solidFill>
          </a:ln>
        </p:spPr>
      </p:sp>
      <p:sp>
        <p:nvSpPr>
          <p:cNvPr id="27" name="Ellipse 27"/>
          <p:cNvSpPr/>
          <p:nvPr/>
        </p:nvSpPr>
        <p:spPr>
          <a:xfrm>
            <a:off x="876300" y="5086350"/>
            <a:ext cx="228600" cy="2286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27735" y="5137785"/>
            <a:ext cx="129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7300" y="5105400"/>
            <a:ext cx="93421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52033"/>
                </a:solidFill>
                <a:latin typeface="Arial"/>
                <a:ea typeface="Microsoft YaHei"/>
                <a:cs typeface="Arial"/>
              </a:rPr>
              <a:t>文档报告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935605" y="5121592"/>
            <a:ext cx="3394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67085"/>
                </a:solidFill>
                <a:latin typeface="Arial"/>
                <a:ea typeface="Microsoft YaHei"/>
                <a:cs typeface="Arial"/>
              </a:rPr>
              <a:t>docs 目录包含设计说明与课程设计报告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86700" y="1466850"/>
            <a:ext cx="3771900" cy="4305300"/>
          </a:xfrm>
          <a:prstGeom prst="roundRect">
            <a:avLst>
              <a:gd name="adj" fmla="val 3535"/>
            </a:avLst>
          </a:prstGeom>
          <a:solidFill>
            <a:srgbClr val="0B4F4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202930" y="1773555"/>
            <a:ext cx="162153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总结一句话</a:t>
            </a:r>
          </a:p>
        </p:txBody>
      </p:sp>
      <p:sp>
        <p:nvSpPr>
          <p:cNvPr id="33" name="Line 33"/>
          <p:cNvSpPr/>
          <p:nvPr/>
        </p:nvSpPr>
        <p:spPr>
          <a:xfrm>
            <a:off x="8229600" y="2286000"/>
            <a:ext cx="3086100" cy="9525"/>
          </a:xfrm>
          <a:custGeom>
            <a:avLst/>
            <a:gdLst/>
            <a:ahLst/>
            <a:cxnLst/>
            <a:rect l="l" t="t" r="r" b="b"/>
            <a:pathLst>
              <a:path w="3086100" h="9525">
                <a:moveTo>
                  <a:pt x="0" y="0"/>
                </a:moveTo>
                <a:lnTo>
                  <a:pt x="3086100" y="0"/>
                </a:lnTo>
              </a:path>
            </a:pathLst>
          </a:custGeom>
          <a:noFill/>
          <a:ln w="19050">
            <a:solidFill>
              <a:srgbClr val="FFFFFF">
                <a:alpha val="25000"/>
              </a:srgbClr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206740" y="2625090"/>
            <a:ext cx="30028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系统完成了从日志到图表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6740" y="2987040"/>
            <a:ext cx="27340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再到管理维护的闭环。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11502" y="3675221"/>
            <a:ext cx="328940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核心计算使用 Hadoop MapReduce，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11502" y="3980021"/>
            <a:ext cx="386707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业务流程由 Spring Boot 和 MySQL 承接，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11502" y="4284821"/>
            <a:ext cx="2357018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dirty="0">
                <a:solidFill>
                  <a:srgbClr val="D9E2EC"/>
                </a:solidFill>
                <a:latin typeface="Arial"/>
                <a:ea typeface="Microsoft YaHei"/>
                <a:cs typeface="Arial"/>
              </a:rPr>
              <a:t>展示层由 ECharts 完成。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29600" y="4953000"/>
            <a:ext cx="2476500" cy="438150"/>
          </a:xfrm>
          <a:prstGeom prst="roundRect">
            <a:avLst>
              <a:gd name="adj" fmla="val 26087"/>
            </a:avLst>
          </a:prstGeom>
          <a:solidFill>
            <a:srgbClr val="FFFFFF">
              <a:alpha val="14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479155" y="5093018"/>
            <a:ext cx="205054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演示结束，可进入答疑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8160" y="6156960"/>
            <a:ext cx="6022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1673</Words>
  <Application>Microsoft Office PowerPoint</Application>
  <PresentationFormat>宽屏</PresentationFormat>
  <Paragraphs>189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承劼 庄</cp:lastModifiedBy>
  <cp:revision>2</cp:revision>
  <dcterms:created xsi:type="dcterms:W3CDTF">2026-06-26T10:58:27Z</dcterms:created>
  <dcterms:modified xsi:type="dcterms:W3CDTF">2026-06-26T11:00:18Z</dcterms:modified>
  <cp:category/>
  <cp:contentStatus/>
  <dc:language/>
</cp:coreProperties>
</file>